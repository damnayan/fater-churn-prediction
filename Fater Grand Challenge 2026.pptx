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bb3cc2061_0_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bb3cc2061_0_4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bb3cc2061_0_5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bb3cc2061_0_6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bb3cc2061_0_7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bb3cc2061_0_8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bb3cc2061_0_9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bb3cc2061_0_11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bb3cc2061_0_12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bb3cc2061_0_13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bb3cc2061_7_0)">
  <p:cSld name="Generated (g3dbb3cc2061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Fater Grand Challenge 2025</a:t>
            </a:r>
            <a:endParaRPr/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User Behavior Using Machine Learning</a:t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4350900" y="3663675"/>
            <a:ext cx="4892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Churn Prediction Model &amp; Targeted Marketing Campaigns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Rome, May 2026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Ayan Alybay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5"/>
          <p:cNvGrpSpPr/>
          <p:nvPr/>
        </p:nvGrpSpPr>
        <p:grpSpPr>
          <a:xfrm>
            <a:off x="571500" y="476250"/>
            <a:ext cx="8001000" cy="3714750"/>
            <a:chOff x="571500" y="476250"/>
            <a:chExt cx="8001000" cy="3714750"/>
          </a:xfrm>
        </p:grpSpPr>
        <p:sp>
          <p:nvSpPr>
            <p:cNvPr id="62" name="Google Shape;62;p15"/>
            <p:cNvSpPr txBox="1"/>
            <p:nvPr/>
          </p:nvSpPr>
          <p:spPr>
            <a:xfrm>
              <a:off x="571500" y="47625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Agenda</a:t>
              </a:r>
              <a:endParaRPr b="1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" name="Google Shape;63;p15"/>
            <p:cNvCxnSpPr/>
            <p:nvPr/>
          </p:nvCxnSpPr>
          <p:spPr>
            <a:xfrm>
              <a:off x="571500" y="12382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4" name="Google Shape;64;p15"/>
            <p:cNvGrpSpPr/>
            <p:nvPr/>
          </p:nvGrpSpPr>
          <p:grpSpPr>
            <a:xfrm>
              <a:off x="571500" y="1524000"/>
              <a:ext cx="8001000" cy="381000"/>
              <a:chOff x="571500" y="1524000"/>
              <a:chExt cx="8001000" cy="381000"/>
            </a:xfrm>
          </p:grpSpPr>
          <p:sp>
            <p:nvSpPr>
              <p:cNvPr id="65" name="Google Shape;65;p15"/>
              <p:cNvSpPr/>
              <p:nvPr/>
            </p:nvSpPr>
            <p:spPr>
              <a:xfrm>
                <a:off x="571500" y="1524000"/>
                <a:ext cx="381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0F0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5"/>
              <p:cNvSpPr txBox="1"/>
              <p:nvPr/>
            </p:nvSpPr>
            <p:spPr>
              <a:xfrm>
                <a:off x="571500" y="15240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1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5"/>
              <p:cNvSpPr txBox="1"/>
              <p:nvPr/>
            </p:nvSpPr>
            <p:spPr>
              <a:xfrm>
                <a:off x="1143000" y="1524000"/>
                <a:ext cx="7429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8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Business Context — Coccole Pampers App</a:t>
                </a:r>
                <a:endParaRPr b="0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15"/>
            <p:cNvGrpSpPr/>
            <p:nvPr/>
          </p:nvGrpSpPr>
          <p:grpSpPr>
            <a:xfrm>
              <a:off x="571500" y="2095500"/>
              <a:ext cx="8001000" cy="381000"/>
              <a:chOff x="571500" y="2095500"/>
              <a:chExt cx="8001000" cy="381000"/>
            </a:xfrm>
          </p:grpSpPr>
          <p:sp>
            <p:nvSpPr>
              <p:cNvPr id="69" name="Google Shape;69;p15"/>
              <p:cNvSpPr/>
              <p:nvPr/>
            </p:nvSpPr>
            <p:spPr>
              <a:xfrm>
                <a:off x="571500" y="2095500"/>
                <a:ext cx="381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0F0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5"/>
              <p:cNvSpPr txBox="1"/>
              <p:nvPr/>
            </p:nvSpPr>
            <p:spPr>
              <a:xfrm>
                <a:off x="571500" y="20955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1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5"/>
              <p:cNvSpPr txBox="1"/>
              <p:nvPr/>
            </p:nvSpPr>
            <p:spPr>
              <a:xfrm>
                <a:off x="1143000" y="2095500"/>
                <a:ext cx="7429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8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Data Overview &amp; Methodology</a:t>
                </a:r>
                <a:endParaRPr b="0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72;p15"/>
            <p:cNvGrpSpPr/>
            <p:nvPr/>
          </p:nvGrpSpPr>
          <p:grpSpPr>
            <a:xfrm>
              <a:off x="571500" y="2667000"/>
              <a:ext cx="8001000" cy="381000"/>
              <a:chOff x="571500" y="2667000"/>
              <a:chExt cx="8001000" cy="381000"/>
            </a:xfrm>
          </p:grpSpPr>
          <p:sp>
            <p:nvSpPr>
              <p:cNvPr id="73" name="Google Shape;73;p15"/>
              <p:cNvSpPr/>
              <p:nvPr/>
            </p:nvSpPr>
            <p:spPr>
              <a:xfrm>
                <a:off x="571500" y="2667000"/>
                <a:ext cx="381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0F0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5"/>
              <p:cNvSpPr txBox="1"/>
              <p:nvPr/>
            </p:nvSpPr>
            <p:spPr>
              <a:xfrm>
                <a:off x="571500" y="26670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1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5"/>
              <p:cNvSpPr txBox="1"/>
              <p:nvPr/>
            </p:nvSpPr>
            <p:spPr>
              <a:xfrm>
                <a:off x="1143000" y="2667000"/>
                <a:ext cx="7429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Churn Analysis Results </a:t>
                </a:r>
                <a:endParaRPr b="0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15"/>
            <p:cNvGrpSpPr/>
            <p:nvPr/>
          </p:nvGrpSpPr>
          <p:grpSpPr>
            <a:xfrm>
              <a:off x="571500" y="3238500"/>
              <a:ext cx="8001000" cy="381000"/>
              <a:chOff x="571500" y="3238500"/>
              <a:chExt cx="8001000" cy="381000"/>
            </a:xfrm>
          </p:grpSpPr>
          <p:sp>
            <p:nvSpPr>
              <p:cNvPr id="77" name="Google Shape;77;p15"/>
              <p:cNvSpPr/>
              <p:nvPr/>
            </p:nvSpPr>
            <p:spPr>
              <a:xfrm>
                <a:off x="571500" y="3238500"/>
                <a:ext cx="381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0F0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5"/>
              <p:cNvSpPr txBox="1"/>
              <p:nvPr/>
            </p:nvSpPr>
            <p:spPr>
              <a:xfrm>
                <a:off x="571500" y="32385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1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5"/>
              <p:cNvSpPr txBox="1"/>
              <p:nvPr/>
            </p:nvSpPr>
            <p:spPr>
              <a:xfrm>
                <a:off x="1143000" y="3238500"/>
                <a:ext cx="7429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Model Performance </a:t>
                </a:r>
                <a:endParaRPr b="0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15"/>
            <p:cNvGrpSpPr/>
            <p:nvPr/>
          </p:nvGrpSpPr>
          <p:grpSpPr>
            <a:xfrm>
              <a:off x="571500" y="3810000"/>
              <a:ext cx="8001000" cy="381000"/>
              <a:chOff x="571500" y="3810000"/>
              <a:chExt cx="8001000" cy="381000"/>
            </a:xfrm>
          </p:grpSpPr>
          <p:sp>
            <p:nvSpPr>
              <p:cNvPr id="81" name="Google Shape;81;p15"/>
              <p:cNvSpPr/>
              <p:nvPr/>
            </p:nvSpPr>
            <p:spPr>
              <a:xfrm>
                <a:off x="571500" y="3810000"/>
                <a:ext cx="381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0F0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5"/>
              <p:cNvSpPr txBox="1"/>
              <p:nvPr/>
            </p:nvSpPr>
            <p:spPr>
              <a:xfrm>
                <a:off x="571500" y="38100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1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5"/>
              <p:cNvSpPr txBox="1"/>
              <p:nvPr/>
            </p:nvSpPr>
            <p:spPr>
              <a:xfrm>
                <a:off x="1143000" y="3810000"/>
                <a:ext cx="7429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User Segmentation &amp; Insights </a:t>
                </a:r>
                <a:endParaRPr b="0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16"/>
          <p:cNvCxnSpPr/>
          <p:nvPr/>
        </p:nvCxnSpPr>
        <p:spPr>
          <a:xfrm>
            <a:off x="571500" y="1143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6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Context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16"/>
          <p:cNvGrpSpPr/>
          <p:nvPr/>
        </p:nvGrpSpPr>
        <p:grpSpPr>
          <a:xfrm>
            <a:off x="571500" y="1428750"/>
            <a:ext cx="5143500" cy="1143000"/>
            <a:chOff x="571500" y="1428750"/>
            <a:chExt cx="5143500" cy="1143000"/>
          </a:xfrm>
        </p:grpSpPr>
        <p:sp>
          <p:nvSpPr>
            <p:cNvPr id="91" name="Google Shape;91;p16"/>
            <p:cNvSpPr/>
            <p:nvPr/>
          </p:nvSpPr>
          <p:spPr>
            <a:xfrm>
              <a:off x="571500" y="1428750"/>
              <a:ext cx="5143500" cy="1143000"/>
            </a:xfrm>
            <a:prstGeom prst="roundRect">
              <a:avLst>
                <a:gd fmla="val 6666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762000" y="1571625"/>
              <a:ext cx="4762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Overview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Coccole Pampers is a loyalty mobile app designed specifically for Italian parents.</a:t>
              </a:r>
              <a:endParaRPr b="0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16"/>
          <p:cNvGrpSpPr/>
          <p:nvPr/>
        </p:nvGrpSpPr>
        <p:grpSpPr>
          <a:xfrm>
            <a:off x="571500" y="2762250"/>
            <a:ext cx="5143500" cy="1905000"/>
            <a:chOff x="571500" y="2762250"/>
            <a:chExt cx="5143500" cy="1905000"/>
          </a:xfrm>
        </p:grpSpPr>
        <p:sp>
          <p:nvSpPr>
            <p:cNvPr id="94" name="Google Shape;94;p16"/>
            <p:cNvSpPr/>
            <p:nvPr/>
          </p:nvSpPr>
          <p:spPr>
            <a:xfrm>
              <a:off x="571500" y="2762250"/>
              <a:ext cx="5143500" cy="1905000"/>
            </a:xfrm>
            <a:prstGeom prst="roundRect">
              <a:avLst>
                <a:gd fmla="val 4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762000" y="2905125"/>
              <a:ext cx="4762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Core Features &amp; Engagement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GB" sz="14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App Ecosystem:</a:t>
              </a:r>
              <a:r>
                <a:rPr b="0" lang="en-GB" sz="14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Content, Games, Community, and Loyalty Program.</a:t>
              </a:r>
              <a:endParaRPr b="0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600"/>
                </a:spcAft>
                <a:buSzPts val="1400"/>
                <a:buChar char="●"/>
              </a:pPr>
              <a:r>
                <a:rPr b="1" lang="en-GB" sz="14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Point Mechanism:</a:t>
              </a:r>
              <a:r>
                <a:rPr b="0" lang="en-GB" sz="14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Users earn points by scanning product codes and completing missions.</a:t>
              </a:r>
              <a:endParaRPr b="0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6000750" y="1428750"/>
            <a:ext cx="2571900" cy="1571700"/>
            <a:chOff x="6000750" y="1428750"/>
            <a:chExt cx="2571900" cy="1571700"/>
          </a:xfrm>
        </p:grpSpPr>
        <p:sp>
          <p:nvSpPr>
            <p:cNvPr id="97" name="Google Shape;97;p16"/>
            <p:cNvSpPr/>
            <p:nvPr/>
          </p:nvSpPr>
          <p:spPr>
            <a:xfrm>
              <a:off x="6000750" y="1428750"/>
              <a:ext cx="2571900" cy="1571700"/>
            </a:xfrm>
            <a:prstGeom prst="roundRect">
              <a:avLst>
                <a:gd fmla="val 4848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6191250" y="1619250"/>
              <a:ext cx="2190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TOTAL USERS ANALYZED</a:t>
              </a:r>
              <a:endParaRPr b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2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6,205</a:t>
              </a:r>
              <a:endPara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Comprehensive Dataset</a:t>
              </a:r>
              <a:endParaRPr b="0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6000750" y="3190875"/>
            <a:ext cx="2571900" cy="1476300"/>
            <a:chOff x="6000750" y="3190875"/>
            <a:chExt cx="2571900" cy="1476300"/>
          </a:xfrm>
        </p:grpSpPr>
        <p:sp>
          <p:nvSpPr>
            <p:cNvPr id="100" name="Google Shape;100;p16"/>
            <p:cNvSpPr/>
            <p:nvPr/>
          </p:nvSpPr>
          <p:spPr>
            <a:xfrm>
              <a:off x="6000750" y="3190875"/>
              <a:ext cx="2571900" cy="1476300"/>
            </a:xfrm>
            <a:prstGeom prst="roundRect">
              <a:avLst>
                <a:gd fmla="val 5161" name="adj"/>
              </a:avLst>
            </a:prstGeom>
            <a:solidFill>
              <a:srgbClr val="FFF5F5"/>
            </a:solidFill>
            <a:ln cap="flat" cmpd="sng" w="9525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6191250" y="3381375"/>
              <a:ext cx="2190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C53030"/>
                  </a:solidFill>
                  <a:latin typeface="Arial"/>
                  <a:ea typeface="Arial"/>
                  <a:cs typeface="Arial"/>
                  <a:sym typeface="Arial"/>
                </a:rPr>
                <a:t>CHURN RATE CHALLENGE</a:t>
              </a:r>
              <a:endParaRPr b="0" sz="1000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2800">
                  <a:solidFill>
                    <a:srgbClr val="C53030"/>
                  </a:solidFill>
                  <a:latin typeface="Arial"/>
                  <a:ea typeface="Arial"/>
                  <a:cs typeface="Arial"/>
                  <a:sym typeface="Arial"/>
                </a:rPr>
                <a:t>53%</a:t>
              </a:r>
              <a:endParaRPr b="1" sz="2800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C53030"/>
                  </a:solidFill>
                  <a:latin typeface="Arial"/>
                  <a:ea typeface="Arial"/>
                  <a:cs typeface="Arial"/>
                  <a:sym typeface="Arial"/>
                </a:rPr>
                <a:t>Users stopped engaging</a:t>
              </a:r>
              <a:endParaRPr b="0" sz="1200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5;p17"/>
          <p:cNvCxnSpPr/>
          <p:nvPr/>
        </p:nvCxnSpPr>
        <p:spPr>
          <a:xfrm>
            <a:off x="571500" y="1143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7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Overview &amp; Methodology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17"/>
          <p:cNvGrpSpPr/>
          <p:nvPr/>
        </p:nvGrpSpPr>
        <p:grpSpPr>
          <a:xfrm>
            <a:off x="571500" y="1428750"/>
            <a:ext cx="3905400" cy="1428900"/>
            <a:chOff x="571500" y="1428750"/>
            <a:chExt cx="3905400" cy="1428900"/>
          </a:xfrm>
        </p:grpSpPr>
        <p:sp>
          <p:nvSpPr>
            <p:cNvPr id="108" name="Google Shape;108;p17"/>
            <p:cNvSpPr/>
            <p:nvPr/>
          </p:nvSpPr>
          <p:spPr>
            <a:xfrm>
              <a:off x="571500" y="142875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762000" y="1571625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Dataset &amp; Sources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6,205 unique users (Coccole Pampers)</a:t>
              </a:r>
              <a:endParaRPr b="0"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Profiles, logins, product codes</a:t>
              </a:r>
              <a:endParaRPr b="0"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595959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Missions and reward history</a:t>
              </a:r>
              <a:endParaRPr b="0"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17"/>
          <p:cNvGrpSpPr/>
          <p:nvPr/>
        </p:nvGrpSpPr>
        <p:grpSpPr>
          <a:xfrm>
            <a:off x="4667250" y="1428750"/>
            <a:ext cx="3905400" cy="1428900"/>
            <a:chOff x="4667250" y="1428750"/>
            <a:chExt cx="3905400" cy="1428900"/>
          </a:xfrm>
        </p:grpSpPr>
        <p:sp>
          <p:nvSpPr>
            <p:cNvPr id="111" name="Google Shape;111;p17"/>
            <p:cNvSpPr/>
            <p:nvPr/>
          </p:nvSpPr>
          <p:spPr>
            <a:xfrm>
              <a:off x="4667250" y="142875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4857750" y="1571625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Key Features (Variables)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Total logins &amp; total codes scanned</a:t>
              </a:r>
              <a:endParaRPr b="0"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Total points accumulated</a:t>
              </a:r>
              <a:endParaRPr b="0"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595959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User tenure &amp; baby age</a:t>
              </a:r>
              <a:endParaRPr b="0"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17"/>
          <p:cNvGrpSpPr/>
          <p:nvPr/>
        </p:nvGrpSpPr>
        <p:grpSpPr>
          <a:xfrm>
            <a:off x="571500" y="3048000"/>
            <a:ext cx="2476500" cy="1524000"/>
            <a:chOff x="571500" y="3048000"/>
            <a:chExt cx="2476500" cy="1524000"/>
          </a:xfrm>
        </p:grpSpPr>
        <p:sp>
          <p:nvSpPr>
            <p:cNvPr id="114" name="Google Shape;114;p17"/>
            <p:cNvSpPr/>
            <p:nvPr/>
          </p:nvSpPr>
          <p:spPr>
            <a:xfrm>
              <a:off x="571500" y="3048000"/>
              <a:ext cx="2476500" cy="1524000"/>
            </a:xfrm>
            <a:prstGeom prst="roundRect">
              <a:avLst>
                <a:gd fmla="val 5000" name="adj"/>
              </a:avLst>
            </a:prstGeom>
            <a:solidFill>
              <a:srgbClr val="FFF5F5"/>
            </a:solidFill>
            <a:ln cap="flat" cmpd="sng" w="9525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762000" y="3190875"/>
              <a:ext cx="2095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C53030"/>
                  </a:solidFill>
                  <a:latin typeface="Arial"/>
                  <a:ea typeface="Arial"/>
                  <a:cs typeface="Arial"/>
                  <a:sym typeface="Arial"/>
                </a:rPr>
                <a:t>Churn Definition</a:t>
              </a:r>
              <a:endParaRPr b="1" sz="1600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C53030"/>
                  </a:solidFill>
                  <a:latin typeface="Arial"/>
                  <a:ea typeface="Arial"/>
                  <a:cs typeface="Arial"/>
                  <a:sym typeface="Arial"/>
                </a:rPr>
                <a:t>&gt; 90 Days</a:t>
              </a:r>
              <a:endParaRPr b="1" sz="1800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C53030"/>
                  </a:solidFill>
                  <a:latin typeface="Arial"/>
                  <a:ea typeface="Arial"/>
                  <a:cs typeface="Arial"/>
                  <a:sym typeface="Arial"/>
                </a:rPr>
                <a:t>Consecutive inactivity period</a:t>
              </a:r>
              <a:endParaRPr b="0" sz="1300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7"/>
          <p:cNvGrpSpPr/>
          <p:nvPr/>
        </p:nvGrpSpPr>
        <p:grpSpPr>
          <a:xfrm>
            <a:off x="3238500" y="3048000"/>
            <a:ext cx="2476500" cy="1524000"/>
            <a:chOff x="3238500" y="3048000"/>
            <a:chExt cx="2476500" cy="1524000"/>
          </a:xfrm>
        </p:grpSpPr>
        <p:sp>
          <p:nvSpPr>
            <p:cNvPr id="117" name="Google Shape;117;p17"/>
            <p:cNvSpPr/>
            <p:nvPr/>
          </p:nvSpPr>
          <p:spPr>
            <a:xfrm>
              <a:off x="3238500" y="3048000"/>
              <a:ext cx="2476500" cy="1524000"/>
            </a:xfrm>
            <a:prstGeom prst="roundRect">
              <a:avLst>
                <a:gd fmla="val 5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3429000" y="3190875"/>
              <a:ext cx="2095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Train/Test Split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80%</a:t>
              </a:r>
              <a:r>
                <a:rPr b="0" lang="en-GB" sz="13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Training</a:t>
              </a:r>
              <a:endParaRPr b="0"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20%</a:t>
              </a:r>
              <a:r>
                <a:rPr b="0" lang="en-GB" sz="13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Testing</a:t>
              </a:r>
              <a:endParaRPr b="0" sz="1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5905500" y="3048000"/>
            <a:ext cx="2667000" cy="1524000"/>
            <a:chOff x="5905500" y="3048000"/>
            <a:chExt cx="2667000" cy="1524000"/>
          </a:xfrm>
        </p:grpSpPr>
        <p:sp>
          <p:nvSpPr>
            <p:cNvPr id="120" name="Google Shape;120;p17"/>
            <p:cNvSpPr/>
            <p:nvPr/>
          </p:nvSpPr>
          <p:spPr>
            <a:xfrm>
              <a:off x="5905500" y="3048000"/>
              <a:ext cx="2667000" cy="1524000"/>
            </a:xfrm>
            <a:prstGeom prst="roundRect">
              <a:avLst>
                <a:gd fmla="val 5000" name="adj"/>
              </a:avLst>
            </a:prstGeom>
            <a:solidFill>
              <a:srgbClr val="F0F4FF"/>
            </a:solidFill>
            <a:ln cap="flat" cmpd="sng" w="9525">
              <a:solidFill>
                <a:srgbClr val="C3D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6096000" y="3190875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2B6CB0"/>
                  </a:solidFill>
                  <a:latin typeface="Arial"/>
                  <a:ea typeface="Arial"/>
                  <a:cs typeface="Arial"/>
                  <a:sym typeface="Arial"/>
                </a:rPr>
                <a:t>Model Architecture</a:t>
              </a:r>
              <a:endParaRPr b="1" sz="1600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2B6CB0"/>
                  </a:solidFill>
                  <a:latin typeface="Arial"/>
                  <a:ea typeface="Arial"/>
                  <a:cs typeface="Arial"/>
                  <a:sym typeface="Arial"/>
                </a:rPr>
                <a:t>XGBoost</a:t>
              </a:r>
              <a:endParaRPr b="1" sz="1600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2B6CB0"/>
                  </a:solidFill>
                  <a:latin typeface="Arial"/>
                  <a:ea typeface="Arial"/>
                  <a:cs typeface="Arial"/>
                  <a:sym typeface="Arial"/>
                </a:rPr>
                <a:t>Gradient Boosted Decision Trees</a:t>
              </a:r>
              <a:endParaRPr b="0" sz="1300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18"/>
          <p:cNvCxnSpPr/>
          <p:nvPr/>
        </p:nvCxnSpPr>
        <p:spPr>
          <a:xfrm>
            <a:off x="571500" y="1143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18"/>
          <p:cNvSpPr txBox="1"/>
          <p:nvPr/>
        </p:nvSpPr>
        <p:spPr>
          <a:xfrm>
            <a:off x="571500" y="261450"/>
            <a:ext cx="780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Churn Analysis Results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800" y="990606"/>
            <a:ext cx="8001000" cy="4228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>
            <a:off x="0" y="-7970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571500" y="1143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19"/>
          <p:cNvSpPr txBox="1"/>
          <p:nvPr/>
        </p:nvSpPr>
        <p:spPr>
          <a:xfrm>
            <a:off x="571513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0775"/>
            <a:ext cx="5118000" cy="37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8575" y="1569228"/>
            <a:ext cx="4945424" cy="335582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20"/>
          <p:cNvCxnSpPr/>
          <p:nvPr/>
        </p:nvCxnSpPr>
        <p:spPr>
          <a:xfrm>
            <a:off x="571500" y="1143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20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Segmentation &amp; Insights 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000" y="3403875"/>
            <a:ext cx="6212150" cy="182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75" y="1372850"/>
            <a:ext cx="4086625" cy="192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238100"/>
            <a:ext cx="4681551" cy="238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" name="Google Shape;150;p21"/>
          <p:cNvCxnSpPr/>
          <p:nvPr/>
        </p:nvCxnSpPr>
        <p:spPr>
          <a:xfrm>
            <a:off x="571500" y="1143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21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Targeted Marketing Campaigns</a:t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21"/>
          <p:cNvGrpSpPr/>
          <p:nvPr/>
        </p:nvGrpSpPr>
        <p:grpSpPr>
          <a:xfrm>
            <a:off x="571500" y="1428750"/>
            <a:ext cx="2476500" cy="3238500"/>
            <a:chOff x="571500" y="1428750"/>
            <a:chExt cx="2476500" cy="3238500"/>
          </a:xfrm>
        </p:grpSpPr>
        <p:sp>
          <p:nvSpPr>
            <p:cNvPr id="153" name="Google Shape;153;p21"/>
            <p:cNvSpPr/>
            <p:nvPr/>
          </p:nvSpPr>
          <p:spPr>
            <a:xfrm>
              <a:off x="571500" y="14287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FFF5F5"/>
            </a:solidFill>
            <a:ln cap="flat" cmpd="sng" w="9525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571500" y="1428750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4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HIGH RISK</a:t>
              </a:r>
              <a:endParaRPr b="1" sz="84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960">
                  <a:solidFill>
                    <a:srgbClr val="C53030"/>
                  </a:solidFill>
                  <a:latin typeface="Arial"/>
                  <a:ea typeface="Arial"/>
                  <a:cs typeface="Arial"/>
                  <a:sym typeface="Arial"/>
                </a:rPr>
                <a:t>14%</a:t>
              </a:r>
              <a:endParaRPr b="1" sz="1960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5">
                  <a:solidFill>
                    <a:srgbClr val="C53030"/>
                  </a:solidFill>
                  <a:latin typeface="Arial"/>
                  <a:ea typeface="Arial"/>
                  <a:cs typeface="Arial"/>
                  <a:sym typeface="Arial"/>
                </a:rPr>
                <a:t>870 users</a:t>
              </a:r>
              <a:endParaRPr b="1" sz="805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1"/>
            <p:cNvSpPr txBox="1"/>
            <p:nvPr/>
          </p:nvSpPr>
          <p:spPr>
            <a:xfrm>
              <a:off x="714375" y="242887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Audience Profile:</a:t>
              </a:r>
              <a:endParaRPr b="1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Users who never logged in after registration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Campaign Strategy:</a:t>
              </a:r>
              <a:endParaRPr b="1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971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805"/>
                <a:buFont typeface="Arial"/>
                <a:buChar char="●"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Push notification with bonus points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9718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3333"/>
                </a:buClr>
                <a:buSzPts val="805"/>
                <a:buFont typeface="Arial"/>
                <a:buChar char="●"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Incentive just for opening the app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21"/>
          <p:cNvGrpSpPr/>
          <p:nvPr/>
        </p:nvGrpSpPr>
        <p:grpSpPr>
          <a:xfrm>
            <a:off x="3333750" y="1428750"/>
            <a:ext cx="2476500" cy="3238500"/>
            <a:chOff x="3333750" y="1428750"/>
            <a:chExt cx="2476500" cy="3238500"/>
          </a:xfrm>
        </p:grpSpPr>
        <p:sp>
          <p:nvSpPr>
            <p:cNvPr id="157" name="Google Shape;157;p21"/>
            <p:cNvSpPr/>
            <p:nvPr/>
          </p:nvSpPr>
          <p:spPr>
            <a:xfrm>
              <a:off x="3333750" y="14287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FFFBEB"/>
            </a:solidFill>
            <a:ln cap="flat" cmpd="sng" w="9525">
              <a:solidFill>
                <a:srgbClr val="F6E0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1"/>
            <p:cNvSpPr txBox="1"/>
            <p:nvPr/>
          </p:nvSpPr>
          <p:spPr>
            <a:xfrm>
              <a:off x="3333750" y="1428750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4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MEDIUM RISK</a:t>
              </a:r>
              <a:endParaRPr b="1" sz="84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960">
                  <a:solidFill>
                    <a:srgbClr val="B7791F"/>
                  </a:solidFill>
                  <a:latin typeface="Arial"/>
                  <a:ea typeface="Arial"/>
                  <a:cs typeface="Arial"/>
                  <a:sym typeface="Arial"/>
                </a:rPr>
                <a:t>39%</a:t>
              </a:r>
              <a:endParaRPr b="1" sz="1960">
                <a:solidFill>
                  <a:srgbClr val="B779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5">
                  <a:solidFill>
                    <a:srgbClr val="B7791F"/>
                  </a:solidFill>
                  <a:latin typeface="Arial"/>
                  <a:ea typeface="Arial"/>
                  <a:cs typeface="Arial"/>
                  <a:sym typeface="Arial"/>
                </a:rPr>
                <a:t>2,428 users</a:t>
              </a:r>
              <a:endParaRPr b="1" sz="805">
                <a:solidFill>
                  <a:srgbClr val="B779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1"/>
            <p:cNvSpPr txBox="1"/>
            <p:nvPr/>
          </p:nvSpPr>
          <p:spPr>
            <a:xfrm>
              <a:off x="3476625" y="242887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Audience Profile:</a:t>
              </a:r>
              <a:endParaRPr b="1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Users who were active but stopped engaging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Campaign Strategy:</a:t>
              </a:r>
              <a:endParaRPr b="1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971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805"/>
                <a:buFont typeface="Arial"/>
                <a:buChar char="●"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Email "We miss you" series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9718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3333"/>
                </a:buClr>
                <a:buSzPts val="805"/>
                <a:buFont typeface="Arial"/>
                <a:buChar char="●"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Unclaimed rewards reminder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9718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3333"/>
                </a:buClr>
                <a:buSzPts val="805"/>
                <a:buFont typeface="Arial"/>
                <a:buChar char="●"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Double points missions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21"/>
          <p:cNvGrpSpPr/>
          <p:nvPr/>
        </p:nvGrpSpPr>
        <p:grpSpPr>
          <a:xfrm>
            <a:off x="6096000" y="1428750"/>
            <a:ext cx="2476500" cy="3238500"/>
            <a:chOff x="6096000" y="1428750"/>
            <a:chExt cx="2476500" cy="3238500"/>
          </a:xfrm>
        </p:grpSpPr>
        <p:sp>
          <p:nvSpPr>
            <p:cNvPr id="161" name="Google Shape;161;p21"/>
            <p:cNvSpPr/>
            <p:nvPr/>
          </p:nvSpPr>
          <p:spPr>
            <a:xfrm>
              <a:off x="6096000" y="14287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F0FFF4"/>
            </a:solidFill>
            <a:ln cap="flat" cmpd="sng" w="9525">
              <a:solidFill>
                <a:srgbClr val="9AE6B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6096000" y="1428750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4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LOYAL</a:t>
              </a:r>
              <a:endParaRPr b="1" sz="84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960">
                  <a:solidFill>
                    <a:srgbClr val="2F855A"/>
                  </a:solidFill>
                  <a:latin typeface="Arial"/>
                  <a:ea typeface="Arial"/>
                  <a:cs typeface="Arial"/>
                  <a:sym typeface="Arial"/>
                </a:rPr>
                <a:t>47%</a:t>
              </a:r>
              <a:endParaRPr b="1" sz="1960">
                <a:solidFill>
                  <a:srgbClr val="2F855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5">
                  <a:solidFill>
                    <a:srgbClr val="2F855A"/>
                  </a:solidFill>
                  <a:latin typeface="Arial"/>
                  <a:ea typeface="Arial"/>
                  <a:cs typeface="Arial"/>
                  <a:sym typeface="Arial"/>
                </a:rPr>
                <a:t>2,907 users</a:t>
              </a:r>
              <a:endParaRPr b="1" sz="805">
                <a:solidFill>
                  <a:srgbClr val="2F855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1"/>
            <p:cNvSpPr txBox="1"/>
            <p:nvPr/>
          </p:nvSpPr>
          <p:spPr>
            <a:xfrm>
              <a:off x="6238875" y="242887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Audience Profile:</a:t>
              </a:r>
              <a:endParaRPr b="1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Highly active power users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Campaign Strategy:</a:t>
              </a:r>
              <a:endParaRPr b="1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971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805"/>
                <a:buFont typeface="Arial"/>
                <a:buChar char="●"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Exclusive tiered rewards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9718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3333"/>
                </a:buClr>
                <a:buSzPts val="805"/>
                <a:buFont typeface="Arial"/>
                <a:buChar char="●"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Tier-based referral program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9718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3333"/>
                </a:buClr>
                <a:buSzPts val="805"/>
                <a:buFont typeface="Arial"/>
                <a:buChar char="●"/>
              </a:pPr>
              <a:r>
                <a:rPr b="0" lang="en-GB" sz="80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Ambassador status perks</a:t>
              </a:r>
              <a:endParaRPr b="0" sz="80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22"/>
          <p:cNvCxnSpPr/>
          <p:nvPr/>
        </p:nvCxnSpPr>
        <p:spPr>
          <a:xfrm>
            <a:off x="571500" y="1143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22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Power BI Dashboard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p22"/>
          <p:cNvGrpSpPr/>
          <p:nvPr/>
        </p:nvGrpSpPr>
        <p:grpSpPr>
          <a:xfrm>
            <a:off x="571500" y="1381125"/>
            <a:ext cx="8001000" cy="952500"/>
            <a:chOff x="571500" y="1381125"/>
            <a:chExt cx="8001000" cy="952500"/>
          </a:xfrm>
        </p:grpSpPr>
        <p:sp>
          <p:nvSpPr>
            <p:cNvPr id="171" name="Google Shape;171;p22"/>
            <p:cNvSpPr/>
            <p:nvPr/>
          </p:nvSpPr>
          <p:spPr>
            <a:xfrm>
              <a:off x="571500" y="1381125"/>
              <a:ext cx="24765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762000" y="147637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TOTAL USERS</a:t>
              </a:r>
              <a:endParaRPr b="1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rgbClr val="2D3748"/>
                  </a:solidFill>
                  <a:latin typeface="Arial"/>
                  <a:ea typeface="Arial"/>
                  <a:cs typeface="Arial"/>
                  <a:sym typeface="Arial"/>
                </a:rPr>
                <a:t>6,205</a:t>
              </a:r>
              <a:endParaRPr b="1" sz="2400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2"/>
            <p:cNvSpPr/>
            <p:nvPr/>
          </p:nvSpPr>
          <p:spPr>
            <a:xfrm>
              <a:off x="3333750" y="1381125"/>
              <a:ext cx="24765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2"/>
            <p:cNvSpPr txBox="1"/>
            <p:nvPr/>
          </p:nvSpPr>
          <p:spPr>
            <a:xfrm>
              <a:off x="3524250" y="147637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CHURNED USERS</a:t>
              </a:r>
              <a:endParaRPr b="1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rgbClr val="C53030"/>
                  </a:solidFill>
                  <a:latin typeface="Arial"/>
                  <a:ea typeface="Arial"/>
                  <a:cs typeface="Arial"/>
                  <a:sym typeface="Arial"/>
                </a:rPr>
                <a:t>~3,000</a:t>
              </a:r>
              <a:endParaRPr b="1" sz="2400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2"/>
            <p:cNvSpPr/>
            <p:nvPr/>
          </p:nvSpPr>
          <p:spPr>
            <a:xfrm>
              <a:off x="6096000" y="1381125"/>
              <a:ext cx="24765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2"/>
            <p:cNvSpPr txBox="1"/>
            <p:nvPr/>
          </p:nvSpPr>
          <p:spPr>
            <a:xfrm>
              <a:off x="6286500" y="147637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AVG CHURN RISK</a:t>
              </a:r>
              <a:endParaRPr b="1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rgbClr val="B7791F"/>
                  </a:solidFill>
                  <a:latin typeface="Arial"/>
                  <a:ea typeface="Arial"/>
                  <a:cs typeface="Arial"/>
                  <a:sym typeface="Arial"/>
                </a:rPr>
                <a:t>53%</a:t>
              </a:r>
              <a:endParaRPr b="1" sz="2400">
                <a:solidFill>
                  <a:srgbClr val="B779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22"/>
          <p:cNvGrpSpPr/>
          <p:nvPr/>
        </p:nvGrpSpPr>
        <p:grpSpPr>
          <a:xfrm>
            <a:off x="571500" y="2571750"/>
            <a:ext cx="8001150" cy="2190900"/>
            <a:chOff x="571500" y="2571750"/>
            <a:chExt cx="8001150" cy="2190900"/>
          </a:xfrm>
        </p:grpSpPr>
        <p:sp>
          <p:nvSpPr>
            <p:cNvPr id="178" name="Google Shape;178;p22"/>
            <p:cNvSpPr/>
            <p:nvPr/>
          </p:nvSpPr>
          <p:spPr>
            <a:xfrm>
              <a:off x="571500" y="257175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2"/>
            <p:cNvSpPr txBox="1"/>
            <p:nvPr/>
          </p:nvSpPr>
          <p:spPr>
            <a:xfrm>
              <a:off x="809625" y="2714625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2B6CB0"/>
                  </a:solidFill>
                  <a:latin typeface="Arial"/>
                  <a:ea typeface="Arial"/>
                  <a:cs typeface="Arial"/>
                  <a:sym typeface="Arial"/>
                </a:rPr>
                <a:t>Dashboard Overview</a:t>
              </a:r>
              <a:endParaRPr b="1" sz="1600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Built interactive dashboard to visualize churn predictions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Dynamic filters by Region and User Segment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Real-time KPI tracking for retention teams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4667250" y="257175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2"/>
            <p:cNvSpPr txBox="1"/>
            <p:nvPr/>
          </p:nvSpPr>
          <p:spPr>
            <a:xfrm>
              <a:off x="4905375" y="2714625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2B6CB0"/>
                  </a:solidFill>
                  <a:latin typeface="Arial"/>
                  <a:ea typeface="Arial"/>
                  <a:cs typeface="Arial"/>
                  <a:sym typeface="Arial"/>
                </a:rPr>
                <a:t>Key Visualizations</a:t>
              </a:r>
              <a:endParaRPr b="1" sz="1600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Segment distribution breakdown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Regional churn analysis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User age group engagement trends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23"/>
          <p:cNvCxnSpPr/>
          <p:nvPr/>
        </p:nvCxnSpPr>
        <p:spPr>
          <a:xfrm>
            <a:off x="571500" y="1143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6" name="Google Shape;18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38" y="0"/>
            <a:ext cx="9005524" cy="497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24"/>
          <p:cNvCxnSpPr/>
          <p:nvPr/>
        </p:nvCxnSpPr>
        <p:spPr>
          <a:xfrm>
            <a:off x="571500" y="11430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24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Conclusions &amp; Next Steps</a:t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24"/>
          <p:cNvGrpSpPr/>
          <p:nvPr/>
        </p:nvGrpSpPr>
        <p:grpSpPr>
          <a:xfrm>
            <a:off x="571500" y="1428750"/>
            <a:ext cx="3905400" cy="3238500"/>
            <a:chOff x="571500" y="1428750"/>
            <a:chExt cx="3905400" cy="3238500"/>
          </a:xfrm>
        </p:grpSpPr>
        <p:sp>
          <p:nvSpPr>
            <p:cNvPr id="194" name="Google Shape;194;p24"/>
            <p:cNvSpPr/>
            <p:nvPr/>
          </p:nvSpPr>
          <p:spPr>
            <a:xfrm>
              <a:off x="571500" y="142875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4"/>
            <p:cNvSpPr txBox="1"/>
            <p:nvPr/>
          </p:nvSpPr>
          <p:spPr>
            <a:xfrm>
              <a:off x="809625" y="166687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2B6CB0"/>
                  </a:solidFill>
                  <a:latin typeface="Arial"/>
                  <a:ea typeface="Arial"/>
                  <a:cs typeface="Arial"/>
                  <a:sym typeface="Arial"/>
                </a:rPr>
                <a:t>Key Findings</a:t>
              </a:r>
              <a:endParaRPr b="1" sz="1800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XGBoost model achieved 91% accuracy and 0.97 ROC-AUC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3 clear user segments identified: Loyal (47%), Medium Risk (39%), High Risk (14%)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Total codes scanned and app logins are the strongest churn predictors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3333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Lombardia, Campania and Sicilia are the largest user markets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24"/>
          <p:cNvGrpSpPr/>
          <p:nvPr/>
        </p:nvGrpSpPr>
        <p:grpSpPr>
          <a:xfrm>
            <a:off x="4667250" y="1428750"/>
            <a:ext cx="3905400" cy="3238500"/>
            <a:chOff x="4667250" y="1428750"/>
            <a:chExt cx="3905400" cy="3238500"/>
          </a:xfrm>
        </p:grpSpPr>
        <p:sp>
          <p:nvSpPr>
            <p:cNvPr id="197" name="Google Shape;197;p24"/>
            <p:cNvSpPr/>
            <p:nvPr/>
          </p:nvSpPr>
          <p:spPr>
            <a:xfrm>
              <a:off x="4667250" y="142875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4"/>
            <p:cNvSpPr txBox="1"/>
            <p:nvPr/>
          </p:nvSpPr>
          <p:spPr>
            <a:xfrm>
              <a:off x="4905375" y="166687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2B6CB0"/>
                  </a:solidFill>
                  <a:latin typeface="Arial"/>
                  <a:ea typeface="Arial"/>
                  <a:cs typeface="Arial"/>
                  <a:sym typeface="Arial"/>
                </a:rPr>
                <a:t>Next Steps</a:t>
              </a:r>
              <a:endParaRPr b="1" sz="1800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Deploy model in production to score users in real-time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Launch targeted campaigns for each segment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3333"/>
                </a:buClr>
                <a:buSzPts val="1300"/>
                <a:buFont typeface="Arial"/>
                <a:buChar char="●"/>
              </a:pPr>
              <a:r>
                <a:rPr b="0" lang="en-GB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Monitor churn rate monthly and retrain model quarterly</a:t>
              </a:r>
              <a:endParaRPr b="0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professional, minimalist vector illustration representing progress and data growth, using shades of blue and grey." id="199" name="Google Shape;1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0" y="33337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